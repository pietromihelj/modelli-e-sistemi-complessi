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71" r:id="rId7"/>
    <p:sldId id="262" r:id="rId8"/>
    <p:sldId id="263" r:id="rId9"/>
    <p:sldId id="264" r:id="rId10"/>
    <p:sldId id="268" r:id="rId11"/>
    <p:sldId id="270" r:id="rId12"/>
    <p:sldId id="269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950724-CFCF-1C90-CF85-3564E69377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7EA9252-5432-82EF-5160-3F39A05855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B974CE2-FF34-73CE-C6F8-85AF99EA9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A4F89-D304-4A49-ABA9-5488561BF167}" type="datetimeFigureOut">
              <a:rPr lang="it-IT" smtClean="0"/>
              <a:t>24/02/2025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9EEB7AB-F8DC-039E-357D-E270E0B38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62CE8CA-B8FD-015F-ADD9-8F5781B24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85E-0776-436F-95D5-0DA26833BF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2682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5F2FB2-E641-408C-6C24-0557B5FB4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DB1DC8-9F11-051C-31CE-1BE5075B1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F3172E6-0C91-54E3-BEA1-03951AFF6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A4F89-D304-4A49-ABA9-5488561BF167}" type="datetimeFigureOut">
              <a:rPr lang="it-IT" smtClean="0"/>
              <a:t>24/02/2025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942304C-6426-7732-1165-316D94FF5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7D051F8-B162-4DDF-4D24-7F54998AD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85E-0776-436F-95D5-0DA26833BF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806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EADC89-DD6B-464B-B6A5-C6BA5C74C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4F67451-6612-1D4E-E7EF-67ED56886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AABE886-6BE6-EB79-CF3F-97751CFA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A4F89-D304-4A49-ABA9-5488561BF167}" type="datetimeFigureOut">
              <a:rPr lang="it-IT" smtClean="0"/>
              <a:t>24/02/2025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44BAABE-3483-F11E-BB48-850751859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72DBF74-483A-2B73-EA85-73F7C0B3E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85E-0776-436F-95D5-0DA26833BF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0088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76DBFB-ECE7-2743-8C06-A78A91555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A87721-0138-21AF-FFEE-EE76AF93FA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5CC9E4B-8FF3-913E-1A33-B74A6D3A6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FDE760B-FDD2-952A-9586-CDB953632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A4F89-D304-4A49-ABA9-5488561BF167}" type="datetimeFigureOut">
              <a:rPr lang="it-IT" smtClean="0"/>
              <a:t>24/02/2025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59CEA0E-B9A3-325A-06C1-865C79D65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7D248B4-FD8F-1E70-8424-569DA1852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85E-0776-436F-95D5-0DA26833BF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86720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DA0B98-3A28-5392-DF39-158708986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DA0D132-383F-71D4-096D-2F2164E98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7F297F4-967D-4850-7A58-B5CA53E9EA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6EC9FC4-B137-CAC1-903D-828F1A07F5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0E870EE-7341-93AF-B972-9F61ACEB58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7020EDA-BA75-639A-61E7-8D7C1DD8F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A4F89-D304-4A49-ABA9-5488561BF167}" type="datetimeFigureOut">
              <a:rPr lang="it-IT" smtClean="0"/>
              <a:t>24/02/2025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905E327-DF54-D966-9274-0E487EAF2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82F5C89A-FFB1-82D8-89DA-5DA1B7ACF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85E-0776-436F-95D5-0DA26833BF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8753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A6C0AD-B871-F274-E5B5-A55C273E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E439180-0089-C46E-B12E-B747223B3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A4F89-D304-4A49-ABA9-5488561BF167}" type="datetimeFigureOut">
              <a:rPr lang="it-IT" smtClean="0"/>
              <a:t>24/02/2025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330FFA8-71C9-F633-C1EE-A049795DB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7F2876D-7FF7-FA15-E976-DD0DB2085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85E-0776-436F-95D5-0DA26833BF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0010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0B7ECC6E-9D3C-446D-4309-B0B630F05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A4F89-D304-4A49-ABA9-5488561BF167}" type="datetimeFigureOut">
              <a:rPr lang="it-IT" smtClean="0"/>
              <a:t>24/02/2025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111EB63-776B-1226-491C-72C866E2C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C5EE434-3BCF-27FE-875D-526CDA43F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85E-0776-436F-95D5-0DA26833BF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0536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F08430-9DBB-AA82-F85A-BB831EF25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98BE9F4-E2FD-4B48-DCAA-FD84BB8FF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4CFF049-FB13-44E7-A55A-AC20C61805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BDE3464-C2BC-0E5A-EF6A-A3E5C91F8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A4F89-D304-4A49-ABA9-5488561BF167}" type="datetimeFigureOut">
              <a:rPr lang="it-IT" smtClean="0"/>
              <a:t>24/02/2025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B794FE7-C0A2-D403-EA0F-8144008B6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151CB90-B1FF-7AD1-3F0C-47140081C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85E-0776-436F-95D5-0DA26833BF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1118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41ACDF-3C44-7379-0620-40A212712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7EC3D83-097F-DA96-02C5-E537856FE6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1A7BB47-B7F5-0DE7-688F-3F67AADBAE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27DF6E8-94E9-6A8F-BF1E-17A68F375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A4F89-D304-4A49-ABA9-5488561BF167}" type="datetimeFigureOut">
              <a:rPr lang="it-IT" smtClean="0"/>
              <a:t>24/02/2025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DD9B2D9-F4EC-2A80-BEE0-CC9773B82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E5B84E6-BD38-22B6-68D4-3E527B3EE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85E-0776-436F-95D5-0DA26833BF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7270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E5401F-3E5D-69DD-0D13-B9BC18582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A0F42A6-6F54-D877-52DD-D78AAE97DE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64E560A-E0C2-5D1F-FDCF-803E6527C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A4F89-D304-4A49-ABA9-5488561BF167}" type="datetimeFigureOut">
              <a:rPr lang="it-IT" smtClean="0"/>
              <a:t>24/02/2025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7BDAA4B-7627-683F-60AA-CAA7B329D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AF6FC9B-8E01-DF1C-8446-FF06CF362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85E-0776-436F-95D5-0DA26833BF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172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EBA335F-2CC4-5628-B54F-7BDD6714B8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E1719EA-1E59-5CF1-4EDC-B3F87CDF4F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837ABF4-8A43-D1A8-227D-83B67429D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A4F89-D304-4A49-ABA9-5488561BF167}" type="datetimeFigureOut">
              <a:rPr lang="it-IT" smtClean="0"/>
              <a:t>24/02/2025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20A8FEA-AD8D-3BD5-D7EB-3E6FF9800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D5F590A-88FF-CC8A-C81C-38D3BE28C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85E-0776-436F-95D5-0DA26833BF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6400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33E240E-68D3-5A66-C05F-AB1A60878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1155FE5-AF5D-D770-34B7-55BC594D4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9158E5C-61F8-0E54-C819-132E988323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7A4F89-D304-4A49-ABA9-5488561BF167}" type="datetimeFigureOut">
              <a:rPr lang="it-IT" smtClean="0"/>
              <a:t>24/02/2025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C5C94AE-1181-97DD-6972-D3E73986E2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B5A49A8-DB00-4A0B-23E4-FD7990C860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A2D85E-0776-436F-95D5-0DA26833BF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1014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it.wikipedia.org/wiki/Modello_di_Hodgkin-Huxley" TargetMode="External"/><Relationship Id="rId2" Type="http://schemas.openxmlformats.org/officeDocument/2006/relationships/hyperlink" Target="https://youtu.be/zOmhHE2xctw?si=XygszLIfMbItmDXf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microbiologiaitalia.it/didattica/potenziale-dazion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73A3D9-EB3A-AAA5-9204-AB4574BD9E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	POTENZIALE DI MEMBRANA NEL NEURONE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F60CCD5-8375-8365-FA7C-2FE3A70BE4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MODELLO HODGKIN-HUXLEY</a:t>
            </a:r>
          </a:p>
          <a:p>
            <a:r>
              <a:rPr lang="it-IT" dirty="0"/>
              <a:t>PIETRO MIHELJ</a:t>
            </a:r>
          </a:p>
        </p:txBody>
      </p:sp>
    </p:spTree>
    <p:extLst>
      <p:ext uri="{BB962C8B-B14F-4D97-AF65-F5344CB8AC3E}">
        <p14:creationId xmlns:p14="http://schemas.microsoft.com/office/powerpoint/2010/main" val="471924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FEB110-0084-9427-764D-FE30883C3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093029" cy="799646"/>
          </a:xfrm>
        </p:spPr>
        <p:txBody>
          <a:bodyPr>
            <a:normAutofit/>
          </a:bodyPr>
          <a:lstStyle/>
          <a:p>
            <a:r>
              <a:rPr lang="it-IT" sz="4000" dirty="0"/>
              <a:t>Il Modello: Variabili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F39915D-0646-33F0-F0EA-400217FDF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3514" y="1360715"/>
            <a:ext cx="7260772" cy="4794477"/>
          </a:xfrm>
        </p:spPr>
        <p:txBody>
          <a:bodyPr/>
          <a:lstStyle/>
          <a:p>
            <a:pPr marL="0" indent="0">
              <a:buNone/>
            </a:pPr>
            <a:endParaRPr lang="it-IT" dirty="0"/>
          </a:p>
          <a:p>
            <a:r>
              <a:rPr lang="it-IT" sz="3600" dirty="0"/>
              <a:t>V: Potenziale di membrana (</a:t>
            </a:r>
            <a:r>
              <a:rPr lang="it-IT" sz="3600" dirty="0" err="1"/>
              <a:t>mV</a:t>
            </a:r>
            <a:r>
              <a:rPr lang="it-IT" sz="3600" dirty="0"/>
              <a:t>)</a:t>
            </a:r>
          </a:p>
          <a:p>
            <a:endParaRPr lang="it-IT" sz="3600" dirty="0"/>
          </a:p>
          <a:p>
            <a:r>
              <a:rPr lang="it-IT" sz="3600" dirty="0"/>
              <a:t>m, h: variabili di </a:t>
            </a:r>
            <a:r>
              <a:rPr lang="it-IT" sz="3600" dirty="0" err="1"/>
              <a:t>gating</a:t>
            </a:r>
            <a:r>
              <a:rPr lang="it-IT" sz="3600" dirty="0"/>
              <a:t> per il sodio</a:t>
            </a:r>
          </a:p>
          <a:p>
            <a:endParaRPr lang="it-IT" sz="3600" dirty="0"/>
          </a:p>
          <a:p>
            <a:r>
              <a:rPr lang="it-IT" sz="3600" dirty="0"/>
              <a:t>n: variabile di </a:t>
            </a:r>
            <a:r>
              <a:rPr lang="it-IT" sz="3600" dirty="0" err="1"/>
              <a:t>gating</a:t>
            </a:r>
            <a:r>
              <a:rPr lang="it-IT" sz="3600" dirty="0"/>
              <a:t> per il potassio</a:t>
            </a:r>
          </a:p>
          <a:p>
            <a:endParaRPr lang="it-IT" sz="3200" dirty="0"/>
          </a:p>
        </p:txBody>
      </p:sp>
    </p:spTree>
    <p:extLst>
      <p:ext uri="{BB962C8B-B14F-4D97-AF65-F5344CB8AC3E}">
        <p14:creationId xmlns:p14="http://schemas.microsoft.com/office/powerpoint/2010/main" val="1168274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C96393-6407-C7AE-3805-ABB39B903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452257" cy="832303"/>
          </a:xfrm>
        </p:spPr>
        <p:txBody>
          <a:bodyPr>
            <a:normAutofit/>
          </a:bodyPr>
          <a:lstStyle/>
          <a:p>
            <a:r>
              <a:rPr lang="it-IT" sz="4000" dirty="0"/>
              <a:t>Il Modello: Parametri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F1B9B16-5760-1049-3043-A4189FF6B6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97429"/>
            <a:ext cx="5181600" cy="4847318"/>
          </a:xfrm>
        </p:spPr>
        <p:txBody>
          <a:bodyPr>
            <a:normAutofit/>
          </a:bodyPr>
          <a:lstStyle/>
          <a:p>
            <a:endParaRPr lang="it-IT" sz="2400" dirty="0"/>
          </a:p>
          <a:p>
            <a:r>
              <a:rPr lang="it-IT" sz="2400" b="1" dirty="0"/>
              <a:t>Cm</a:t>
            </a:r>
            <a:r>
              <a:rPr lang="it-IT" sz="2400" dirty="0"/>
              <a:t>: capacità di membrana</a:t>
            </a:r>
          </a:p>
          <a:p>
            <a:pPr marL="0" indent="0">
              <a:buNone/>
            </a:pPr>
            <a:endParaRPr lang="it-IT" sz="2400" dirty="0"/>
          </a:p>
          <a:p>
            <a:r>
              <a:rPr lang="it-IT" sz="2400" b="1" dirty="0" err="1"/>
              <a:t>GNa</a:t>
            </a:r>
            <a:r>
              <a:rPr lang="it-IT" sz="2400" dirty="0"/>
              <a:t>: massima conduttanza dei canali del sodio</a:t>
            </a:r>
          </a:p>
          <a:p>
            <a:pPr marL="0" indent="0">
              <a:buNone/>
            </a:pPr>
            <a:endParaRPr lang="it-IT" sz="2400" dirty="0"/>
          </a:p>
          <a:p>
            <a:r>
              <a:rPr lang="it-IT" sz="2400" b="1" dirty="0" err="1"/>
              <a:t>Gk</a:t>
            </a:r>
            <a:r>
              <a:rPr lang="it-IT" sz="2400" dirty="0"/>
              <a:t>: massima conduttanza dei canali del potassio</a:t>
            </a:r>
          </a:p>
          <a:p>
            <a:pPr marL="0" indent="0">
              <a:buNone/>
            </a:pPr>
            <a:endParaRPr lang="it-IT" sz="2400" dirty="0"/>
          </a:p>
          <a:p>
            <a:r>
              <a:rPr lang="it-IT" sz="2400" b="1" dirty="0"/>
              <a:t>Gl</a:t>
            </a:r>
            <a:r>
              <a:rPr lang="it-IT" sz="2400" dirty="0"/>
              <a:t>: massima conduttanza dei canali leak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B5F17E89-A2C1-CD01-55FA-20B0D3D44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07912"/>
            <a:ext cx="5181600" cy="3377746"/>
          </a:xfrm>
        </p:spPr>
        <p:txBody>
          <a:bodyPr>
            <a:noAutofit/>
          </a:bodyPr>
          <a:lstStyle/>
          <a:p>
            <a:r>
              <a:rPr lang="it-IT" sz="2400" b="1" dirty="0" err="1"/>
              <a:t>ENa</a:t>
            </a:r>
            <a:r>
              <a:rPr lang="it-IT" sz="2400" dirty="0"/>
              <a:t>: potenziale inverso per il sodio</a:t>
            </a:r>
          </a:p>
          <a:p>
            <a:pPr marL="0" indent="0">
              <a:buNone/>
            </a:pPr>
            <a:endParaRPr lang="it-IT" sz="2400" dirty="0"/>
          </a:p>
          <a:p>
            <a:r>
              <a:rPr lang="it-IT" sz="2400" b="1" dirty="0" err="1"/>
              <a:t>Ek</a:t>
            </a:r>
            <a:r>
              <a:rPr lang="it-IT" sz="2400" dirty="0"/>
              <a:t>: potenziale inverso per il potassio</a:t>
            </a:r>
          </a:p>
          <a:p>
            <a:pPr marL="0" indent="0">
              <a:buNone/>
            </a:pPr>
            <a:endParaRPr lang="it-IT" sz="2400" dirty="0"/>
          </a:p>
          <a:p>
            <a:r>
              <a:rPr lang="it-IT" sz="2400" b="1" dirty="0"/>
              <a:t>El</a:t>
            </a:r>
            <a:r>
              <a:rPr lang="it-IT" sz="2400" dirty="0"/>
              <a:t>: potenziale inverso per i canali leak</a:t>
            </a:r>
          </a:p>
          <a:p>
            <a:pPr marL="0" indent="0">
              <a:buNone/>
            </a:pPr>
            <a:endParaRPr lang="it-IT" sz="2400" dirty="0"/>
          </a:p>
          <a:p>
            <a:r>
              <a:rPr lang="it-IT" sz="2400" b="1" dirty="0" err="1"/>
              <a:t>Iext</a:t>
            </a:r>
            <a:r>
              <a:rPr lang="it-IT" sz="2400" dirty="0"/>
              <a:t>: corrente esterna derivante da altri neuroni </a:t>
            </a:r>
          </a:p>
        </p:txBody>
      </p:sp>
    </p:spTree>
    <p:extLst>
      <p:ext uri="{BB962C8B-B14F-4D97-AF65-F5344CB8AC3E}">
        <p14:creationId xmlns:p14="http://schemas.microsoft.com/office/powerpoint/2010/main" val="4281049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DDB19F-9844-864E-8E3A-0A16FF28F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01" y="718313"/>
            <a:ext cx="4182870" cy="544430"/>
          </a:xfrm>
        </p:spPr>
        <p:txBody>
          <a:bodyPr>
            <a:normAutofit fontScale="90000"/>
          </a:bodyPr>
          <a:lstStyle/>
          <a:p>
            <a:r>
              <a:rPr lang="it-IT" dirty="0"/>
              <a:t>Il Modello: Sistema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8C467823-A9A8-961F-016A-84A35AA3B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72" y="1857974"/>
            <a:ext cx="6991947" cy="1208340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9BFE6F84-61B3-6BCE-569B-25F4B57D9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50" y="5197888"/>
            <a:ext cx="4746170" cy="941799"/>
          </a:xfrm>
          <a:prstGeom prst="rect">
            <a:avLst/>
          </a:prstGeom>
        </p:spPr>
      </p:pic>
      <p:pic>
        <p:nvPicPr>
          <p:cNvPr id="40" name="Segnaposto contenuto 39">
            <a:extLst>
              <a:ext uri="{FF2B5EF4-FFF2-40B4-BE49-F238E27FC236}">
                <a16:creationId xmlns:a16="http://schemas.microsoft.com/office/drawing/2014/main" id="{F30D01B3-9B43-4F50-3C6A-FD67A38AF3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76996" y="3190301"/>
            <a:ext cx="5143669" cy="941799"/>
          </a:xfrm>
        </p:spPr>
      </p:pic>
      <p:pic>
        <p:nvPicPr>
          <p:cNvPr id="43" name="Immagine 42">
            <a:extLst>
              <a:ext uri="{FF2B5EF4-FFF2-40B4-BE49-F238E27FC236}">
                <a16:creationId xmlns:a16="http://schemas.microsoft.com/office/drawing/2014/main" id="{2835E085-22B6-C14A-02BA-0F443E6FC4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901" y="4157322"/>
            <a:ext cx="4721719" cy="941798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8019B118-4830-5FFB-F208-F0245F693B1B}"/>
              </a:ext>
            </a:extLst>
          </p:cNvPr>
          <p:cNvSpPr txBox="1"/>
          <p:nvPr/>
        </p:nvSpPr>
        <p:spPr>
          <a:xfrm>
            <a:off x="8333772" y="1833647"/>
            <a:ext cx="32496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Derivata del potenziale di membrana nel tempo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8FDD4FB-4516-89D5-F053-BDAC8E28E881}"/>
              </a:ext>
            </a:extLst>
          </p:cNvPr>
          <p:cNvSpPr txBox="1"/>
          <p:nvPr/>
        </p:nvSpPr>
        <p:spPr>
          <a:xfrm>
            <a:off x="6678382" y="4132100"/>
            <a:ext cx="2639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u="sng" dirty="0"/>
              <a:t>Derivate delle variabili di </a:t>
            </a:r>
            <a:r>
              <a:rPr lang="it-IT" sz="2000" b="1" u="sng" dirty="0" err="1"/>
              <a:t>gating</a:t>
            </a:r>
            <a:endParaRPr lang="it-IT" sz="2000" b="1" u="sng" dirty="0"/>
          </a:p>
        </p:txBody>
      </p:sp>
    </p:spTree>
    <p:extLst>
      <p:ext uri="{BB962C8B-B14F-4D97-AF65-F5344CB8AC3E}">
        <p14:creationId xmlns:p14="http://schemas.microsoft.com/office/powerpoint/2010/main" val="318178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2AFC7DF3-E2ED-2BA3-FF15-100134ABA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7054146" cy="618217"/>
          </a:xfrm>
        </p:spPr>
        <p:txBody>
          <a:bodyPr>
            <a:normAutofit fontScale="90000"/>
          </a:bodyPr>
          <a:lstStyle/>
          <a:p>
            <a:r>
              <a:rPr lang="it-IT" dirty="0"/>
              <a:t>Il Modello: Funzioni Ausiliarie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AC4ADE1-4716-6BC2-49D0-D31F9B89C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9562" y="2107820"/>
            <a:ext cx="1239383" cy="458188"/>
          </a:xfrm>
        </p:spPr>
        <p:txBody>
          <a:bodyPr>
            <a:normAutofit fontScale="92500"/>
          </a:bodyPr>
          <a:lstStyle/>
          <a:p>
            <a:r>
              <a:rPr lang="it-IT" dirty="0"/>
              <a:t>Correnti</a:t>
            </a:r>
          </a:p>
        </p:txBody>
      </p:sp>
      <p:pic>
        <p:nvPicPr>
          <p:cNvPr id="12" name="Segnaposto contenuto 11">
            <a:extLst>
              <a:ext uri="{FF2B5EF4-FFF2-40B4-BE49-F238E27FC236}">
                <a16:creationId xmlns:a16="http://schemas.microsoft.com/office/drawing/2014/main" id="{7363BA6E-6403-B878-0BD8-252A0665656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4594" y="2917816"/>
            <a:ext cx="3591426" cy="352474"/>
          </a:xfrm>
        </p:spPr>
      </p:pic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ABCDDCB1-679E-54AE-AA85-3E7E3AC51E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169413" y="1928579"/>
            <a:ext cx="2569029" cy="458188"/>
          </a:xfrm>
        </p:spPr>
        <p:txBody>
          <a:bodyPr>
            <a:normAutofit fontScale="92500"/>
          </a:bodyPr>
          <a:lstStyle/>
          <a:p>
            <a:r>
              <a:rPr lang="it-IT" dirty="0"/>
              <a:t>Funzioni di </a:t>
            </a:r>
            <a:r>
              <a:rPr lang="it-IT" dirty="0" err="1"/>
              <a:t>gating</a:t>
            </a:r>
            <a:endParaRPr lang="it-IT" dirty="0"/>
          </a:p>
        </p:txBody>
      </p:sp>
      <p:pic>
        <p:nvPicPr>
          <p:cNvPr id="19" name="Segnaposto contenuto 18">
            <a:extLst>
              <a:ext uri="{FF2B5EF4-FFF2-40B4-BE49-F238E27FC236}">
                <a16:creationId xmlns:a16="http://schemas.microsoft.com/office/drawing/2014/main" id="{46249F57-F98D-3E1F-407C-8FAEE91272E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557924" y="2673848"/>
            <a:ext cx="2896004" cy="695422"/>
          </a:xfr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533B0A76-6471-751B-53E4-E45F63ACA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594" y="3622098"/>
            <a:ext cx="2829320" cy="304843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D3C6CB11-7466-E431-9195-2D21EC0F2B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594" y="4278084"/>
            <a:ext cx="2238687" cy="352474"/>
          </a:xfrm>
          <a:prstGeom prst="rect">
            <a:avLst/>
          </a:prstGeom>
        </p:spPr>
      </p:pic>
      <p:pic>
        <p:nvPicPr>
          <p:cNvPr id="22" name="Immagine 21">
            <a:extLst>
              <a:ext uri="{FF2B5EF4-FFF2-40B4-BE49-F238E27FC236}">
                <a16:creationId xmlns:a16="http://schemas.microsoft.com/office/drawing/2014/main" id="{5B8C8BAF-070B-5759-45BF-4D292C2CD2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8314" y="2728903"/>
            <a:ext cx="2486372" cy="428685"/>
          </a:xfrm>
          <a:prstGeom prst="rect">
            <a:avLst/>
          </a:prstGeom>
        </p:spPr>
      </p:pic>
      <p:pic>
        <p:nvPicPr>
          <p:cNvPr id="25" name="Immagine 24">
            <a:extLst>
              <a:ext uri="{FF2B5EF4-FFF2-40B4-BE49-F238E27FC236}">
                <a16:creationId xmlns:a16="http://schemas.microsoft.com/office/drawing/2014/main" id="{8E0799F4-D5B0-9D5E-74D5-03833124C4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1467" y="3488730"/>
            <a:ext cx="2534004" cy="438211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CFF4DB79-3E5B-F5FD-E202-D079C49460F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8314" y="3332004"/>
            <a:ext cx="2372056" cy="676369"/>
          </a:xfrm>
          <a:prstGeom prst="rect">
            <a:avLst/>
          </a:prstGeom>
        </p:spPr>
      </p:pic>
      <p:pic>
        <p:nvPicPr>
          <p:cNvPr id="31" name="Immagine 30">
            <a:extLst>
              <a:ext uri="{FF2B5EF4-FFF2-40B4-BE49-F238E27FC236}">
                <a16:creationId xmlns:a16="http://schemas.microsoft.com/office/drawing/2014/main" id="{7B5EE445-ADAE-9A8D-7BE5-3724579EDA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57924" y="4061416"/>
            <a:ext cx="2896004" cy="790685"/>
          </a:xfrm>
          <a:prstGeom prst="rect">
            <a:avLst/>
          </a:prstGeom>
        </p:spPr>
      </p:pic>
      <p:pic>
        <p:nvPicPr>
          <p:cNvPr id="34" name="Immagine 33">
            <a:extLst>
              <a:ext uri="{FF2B5EF4-FFF2-40B4-BE49-F238E27FC236}">
                <a16:creationId xmlns:a16="http://schemas.microsoft.com/office/drawing/2014/main" id="{C2DEEB9F-7EF0-C453-6858-FA5733A838D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28314" y="4129097"/>
            <a:ext cx="2753109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339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egnaposto contenuto 3">
            <a:extLst>
              <a:ext uri="{FF2B5EF4-FFF2-40B4-BE49-F238E27FC236}">
                <a16:creationId xmlns:a16="http://schemas.microsoft.com/office/drawing/2014/main" id="{672616DE-8944-9D90-28E6-805FBD4A61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57563" y="3695393"/>
            <a:ext cx="1804718" cy="2868693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0E165228-3A39-DFC5-7032-C6E9A8E4B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779" y="731892"/>
            <a:ext cx="2330046" cy="2697108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D931866D-D15C-9AA2-9AB5-F67DFABA3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031" y="1015945"/>
            <a:ext cx="5106381" cy="5358895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66FE6A3-6DE0-870D-AE80-D85C5B4D0B92}"/>
              </a:ext>
            </a:extLst>
          </p:cNvPr>
          <p:cNvSpPr txBox="1"/>
          <p:nvPr/>
        </p:nvSpPr>
        <p:spPr>
          <a:xfrm>
            <a:off x="251220" y="206828"/>
            <a:ext cx="73805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dirty="0"/>
              <a:t>Il Modello: funzionamento reale</a:t>
            </a:r>
          </a:p>
        </p:txBody>
      </p:sp>
    </p:spTree>
    <p:extLst>
      <p:ext uri="{BB962C8B-B14F-4D97-AF65-F5344CB8AC3E}">
        <p14:creationId xmlns:p14="http://schemas.microsoft.com/office/powerpoint/2010/main" val="2443479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4826FE-D532-3044-86F2-33C63ADAA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159" y="205500"/>
            <a:ext cx="3882683" cy="526126"/>
          </a:xfrm>
        </p:spPr>
        <p:txBody>
          <a:bodyPr>
            <a:normAutofit fontScale="90000"/>
          </a:bodyPr>
          <a:lstStyle/>
          <a:p>
            <a:r>
              <a:rPr lang="it-IT" dirty="0"/>
              <a:t>Comportamenti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5ED1CEC-3C9A-7ACF-C5E2-0B626015F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9059" y="1463166"/>
            <a:ext cx="1255622" cy="526126"/>
          </a:xfrm>
        </p:spPr>
        <p:txBody>
          <a:bodyPr>
            <a:normAutofit/>
          </a:bodyPr>
          <a:lstStyle/>
          <a:p>
            <a:r>
              <a:rPr lang="it-IT" dirty="0" err="1"/>
              <a:t>Spiking</a:t>
            </a:r>
            <a:endParaRPr lang="it-IT" dirty="0"/>
          </a:p>
        </p:txBody>
      </p:sp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E3F5E97F-7F34-72F1-22D6-E6E2E98655E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37976" y="2244556"/>
            <a:ext cx="6058457" cy="3263615"/>
          </a:xfrm>
        </p:spPr>
      </p:pic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1AE0308-6713-7232-F73B-B3BF3F7AB3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158799" y="1499880"/>
            <a:ext cx="1377043" cy="489412"/>
          </a:xfrm>
        </p:spPr>
        <p:txBody>
          <a:bodyPr>
            <a:normAutofit/>
          </a:bodyPr>
          <a:lstStyle/>
          <a:p>
            <a:r>
              <a:rPr lang="it-IT" dirty="0" err="1"/>
              <a:t>Bursting</a:t>
            </a:r>
            <a:endParaRPr lang="it-IT" dirty="0"/>
          </a:p>
        </p:txBody>
      </p:sp>
      <p:pic>
        <p:nvPicPr>
          <p:cNvPr id="13" name="Segnaposto contenuto 12">
            <a:extLst>
              <a:ext uri="{FF2B5EF4-FFF2-40B4-BE49-F238E27FC236}">
                <a16:creationId xmlns:a16="http://schemas.microsoft.com/office/drawing/2014/main" id="{D7178E51-C2E6-0DE0-D100-475912A4A7D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66831" y="2263632"/>
            <a:ext cx="5887193" cy="3263615"/>
          </a:xfrm>
        </p:spPr>
      </p:pic>
    </p:spTree>
    <p:extLst>
      <p:ext uri="{BB962C8B-B14F-4D97-AF65-F5344CB8AC3E}">
        <p14:creationId xmlns:p14="http://schemas.microsoft.com/office/powerpoint/2010/main" val="33665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584828-E36F-0DCF-A5E8-BB190D039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221117"/>
            <a:ext cx="3786641" cy="581932"/>
          </a:xfrm>
        </p:spPr>
        <p:txBody>
          <a:bodyPr>
            <a:normAutofit fontScale="90000"/>
          </a:bodyPr>
          <a:lstStyle/>
          <a:p>
            <a:r>
              <a:rPr lang="it-IT" dirty="0"/>
              <a:t>Comportamenti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1399F79-4EB4-E9BA-406A-8C4711864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8389" y="1610342"/>
            <a:ext cx="3623355" cy="441551"/>
          </a:xfrm>
        </p:spPr>
        <p:txBody>
          <a:bodyPr>
            <a:normAutofit/>
          </a:bodyPr>
          <a:lstStyle/>
          <a:p>
            <a:r>
              <a:rPr lang="it-IT" dirty="0"/>
              <a:t>Sub-</a:t>
            </a:r>
            <a:r>
              <a:rPr lang="it-IT" dirty="0" err="1"/>
              <a:t>threshold</a:t>
            </a:r>
            <a:r>
              <a:rPr lang="it-IT" dirty="0"/>
              <a:t> </a:t>
            </a:r>
            <a:r>
              <a:rPr lang="it-IT" dirty="0" err="1"/>
              <a:t>Response</a:t>
            </a:r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26FB55F-3CED-87EC-9E92-E14BD6FCE6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79717" y="1534142"/>
            <a:ext cx="3414112" cy="441551"/>
          </a:xfrm>
        </p:spPr>
        <p:txBody>
          <a:bodyPr>
            <a:normAutofit/>
          </a:bodyPr>
          <a:lstStyle/>
          <a:p>
            <a:r>
              <a:rPr lang="it-IT" dirty="0"/>
              <a:t>Caotico o </a:t>
            </a:r>
            <a:r>
              <a:rPr lang="it-IT" dirty="0" err="1"/>
              <a:t>Resting</a:t>
            </a:r>
            <a:r>
              <a:rPr lang="it-IT" dirty="0"/>
              <a:t> state 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2320E538-F935-4D24-B4C5-3FBEB20A9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6" y="2298700"/>
            <a:ext cx="5932714" cy="3242103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389EDB52-DC91-4945-D759-CE1F94848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486" y="2298700"/>
            <a:ext cx="5847566" cy="315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399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19F947-2551-9BCA-3D54-051C97EC6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957841" cy="581932"/>
          </a:xfrm>
        </p:spPr>
        <p:txBody>
          <a:bodyPr>
            <a:normAutofit fontScale="90000"/>
          </a:bodyPr>
          <a:lstStyle/>
          <a:p>
            <a:r>
              <a:rPr lang="it-IT" dirty="0"/>
              <a:t>Equilibri</a:t>
            </a:r>
          </a:p>
        </p:txBody>
      </p:sp>
      <p:pic>
        <p:nvPicPr>
          <p:cNvPr id="10" name="Segnaposto contenuto 9">
            <a:extLst>
              <a:ext uri="{FF2B5EF4-FFF2-40B4-BE49-F238E27FC236}">
                <a16:creationId xmlns:a16="http://schemas.microsoft.com/office/drawing/2014/main" id="{5A24615B-C029-E569-81DB-52002B33ECC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461246" y="3110054"/>
            <a:ext cx="3037457" cy="912438"/>
          </a:xfrm>
        </p:spPr>
      </p:pic>
      <p:pic>
        <p:nvPicPr>
          <p:cNvPr id="12" name="Segnaposto contenuto 11">
            <a:extLst>
              <a:ext uri="{FF2B5EF4-FFF2-40B4-BE49-F238E27FC236}">
                <a16:creationId xmlns:a16="http://schemas.microsoft.com/office/drawing/2014/main" id="{882D39C0-116F-6540-34ED-D36E0209E1F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8024059" y="3087444"/>
            <a:ext cx="3697051" cy="1036294"/>
          </a:xfr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9EEC957C-3DB4-1D1E-57A1-5D4B8218B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124" y="3211300"/>
            <a:ext cx="3449766" cy="912438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5E144BB6-0621-37D2-9583-55C0E90991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59" y="1387328"/>
            <a:ext cx="11118482" cy="735782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F6D0281A-7579-60B3-5287-0C575982E419}"/>
              </a:ext>
            </a:extLst>
          </p:cNvPr>
          <p:cNvSpPr txBox="1"/>
          <p:nvPr/>
        </p:nvSpPr>
        <p:spPr>
          <a:xfrm>
            <a:off x="61145" y="5366658"/>
            <a:ext cx="11321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Non esistendo una soluzione analitica bisogna risolvere numericamente il sistema tramite delle simulazioni </a:t>
            </a:r>
          </a:p>
        </p:txBody>
      </p:sp>
    </p:spTree>
    <p:extLst>
      <p:ext uri="{BB962C8B-B14F-4D97-AF65-F5344CB8AC3E}">
        <p14:creationId xmlns:p14="http://schemas.microsoft.com/office/powerpoint/2010/main" val="2949886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BF530F-D53F-1F36-6FFD-91E33594E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565" y="395409"/>
            <a:ext cx="4635726" cy="440418"/>
          </a:xfrm>
        </p:spPr>
        <p:txBody>
          <a:bodyPr>
            <a:normAutofit fontScale="90000"/>
          </a:bodyPr>
          <a:lstStyle/>
          <a:p>
            <a:r>
              <a:rPr lang="it-IT" dirty="0"/>
              <a:t>Equilibri e corrente </a:t>
            </a:r>
            <a:r>
              <a:rPr lang="it-IT" sz="2700" dirty="0"/>
              <a:t>(1)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10035B8-2A19-EE47-57D9-AD838416C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4565" y="1380559"/>
            <a:ext cx="10622869" cy="612858"/>
          </a:xfrm>
        </p:spPr>
        <p:txBody>
          <a:bodyPr>
            <a:normAutofit/>
          </a:bodyPr>
          <a:lstStyle/>
          <a:p>
            <a:r>
              <a:rPr lang="it-IT" sz="1800" b="0" dirty="0"/>
              <a:t>La corrente va a modificare il valore e i bacini di attrazione dei 2 equilibri. Uno stesso punto con correnti esterne diverse finisce in equilibri diversi</a:t>
            </a:r>
          </a:p>
        </p:txBody>
      </p:sp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7ED2ABD1-FDF9-B55B-1A67-3E570BD694F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61823" y="2416629"/>
            <a:ext cx="5681210" cy="2596460"/>
          </a:xfr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9E7545EA-A619-7BBC-202F-AAD181342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967" y="2460436"/>
            <a:ext cx="5681210" cy="2552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648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2CB4F4-E2F8-D62B-175D-6D3D19B85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4428898" cy="592818"/>
          </a:xfrm>
        </p:spPr>
        <p:txBody>
          <a:bodyPr>
            <a:normAutofit fontScale="90000"/>
          </a:bodyPr>
          <a:lstStyle/>
          <a:p>
            <a:r>
              <a:rPr lang="it-IT" sz="4000" dirty="0"/>
              <a:t>Equilibri e corrente </a:t>
            </a:r>
            <a:r>
              <a:rPr lang="it-IT" sz="2400" dirty="0"/>
              <a:t>(2)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43C0EA4-DB15-179B-D02A-1DA92759D1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39787" y="1082449"/>
            <a:ext cx="10111241" cy="387122"/>
          </a:xfrm>
        </p:spPr>
        <p:txBody>
          <a:bodyPr>
            <a:normAutofit/>
          </a:bodyPr>
          <a:lstStyle/>
          <a:p>
            <a:r>
              <a:rPr lang="it-IT" sz="1800" b="0" dirty="0"/>
              <a:t>Grafici di fase per uno stesso punto iniziale mostrano come cambia l’equilibrio a </a:t>
            </a:r>
            <a:r>
              <a:rPr lang="it-IT" sz="1800" b="0" dirty="0" err="1"/>
              <a:t>cuì</a:t>
            </a:r>
            <a:r>
              <a:rPr lang="it-IT" sz="1800" b="0" dirty="0"/>
              <a:t> si tende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15C63287-20B5-05BB-C68B-9915FAE14B9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6105" y="1469571"/>
            <a:ext cx="6994669" cy="2296885"/>
          </a:xfrm>
          <a:prstGeom prst="rect">
            <a:avLst/>
          </a:prstGeom>
        </p:spPr>
      </p:pic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E7C55327-C071-F41B-B7F5-4DEF276B8D7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3912109" y="4044253"/>
            <a:ext cx="7514738" cy="2448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845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C3AE52-7542-3EEB-FC2D-912758FC5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4919328" cy="823913"/>
          </a:xfrm>
        </p:spPr>
        <p:txBody>
          <a:bodyPr>
            <a:normAutofit/>
          </a:bodyPr>
          <a:lstStyle/>
          <a:p>
            <a:r>
              <a:rPr lang="it-IT" b="0" i="0" u="none" strike="noStrike" dirty="0">
                <a:effectLst/>
                <a:latin typeface="Arial" panose="020B0604020202020204" pitchFamily="34" charset="0"/>
              </a:rPr>
              <a:t>MULTISTABILITA’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32ECE7F-127E-99FC-E59E-822313F41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320575"/>
            <a:ext cx="1511526" cy="365351"/>
          </a:xfrm>
        </p:spPr>
        <p:txBody>
          <a:bodyPr>
            <a:normAutofit fontScale="92500" lnSpcReduction="20000"/>
          </a:bodyPr>
          <a:lstStyle/>
          <a:p>
            <a:r>
              <a:rPr lang="it-IT" b="0" dirty="0"/>
              <a:t>V0 = -50</a:t>
            </a:r>
          </a:p>
        </p:txBody>
      </p:sp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8ABA90F8-6985-BC56-0796-D011EF21DF1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75759" y="2027296"/>
            <a:ext cx="5482552" cy="1489964"/>
          </a:xfrm>
        </p:spPr>
      </p:pic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32264D7-A225-0E4C-D232-6EF8E8E688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25343" y="1323979"/>
            <a:ext cx="1219200" cy="365351"/>
          </a:xfrm>
        </p:spPr>
        <p:txBody>
          <a:bodyPr>
            <a:normAutofit fontScale="92500" lnSpcReduction="20000"/>
          </a:bodyPr>
          <a:lstStyle/>
          <a:p>
            <a:r>
              <a:rPr lang="it-IT" b="0" dirty="0"/>
              <a:t>V0 = -65</a:t>
            </a:r>
          </a:p>
        </p:txBody>
      </p:sp>
      <p:pic>
        <p:nvPicPr>
          <p:cNvPr id="13" name="Segnaposto contenuto 12">
            <a:extLst>
              <a:ext uri="{FF2B5EF4-FFF2-40B4-BE49-F238E27FC236}">
                <a16:creationId xmlns:a16="http://schemas.microsoft.com/office/drawing/2014/main" id="{3D383DA3-F7F3-37AA-D699-98A2FD83D44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408616" y="2008538"/>
            <a:ext cx="5482551" cy="1556294"/>
          </a:xfr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C3A6708E-03C0-6931-F62D-A6E8AC01F4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564" y="4071315"/>
            <a:ext cx="5482552" cy="1792927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5E4C9B0A-3E61-0D1D-A3D6-78D91FAAA2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2885" y="4071315"/>
            <a:ext cx="5482551" cy="181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179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6946BD-B3CE-0B10-F562-DA00BAAB6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4624841" cy="527504"/>
          </a:xfrm>
        </p:spPr>
        <p:txBody>
          <a:bodyPr>
            <a:noAutofit/>
          </a:bodyPr>
          <a:lstStyle/>
          <a:p>
            <a:r>
              <a:rPr lang="it-IT" sz="4000" dirty="0"/>
              <a:t>Parametri e equilibri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47BEC57-A2AC-FBCD-757B-E3DC61580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892630"/>
            <a:ext cx="10177349" cy="370113"/>
          </a:xfrm>
        </p:spPr>
        <p:txBody>
          <a:bodyPr>
            <a:normAutofit/>
          </a:bodyPr>
          <a:lstStyle/>
          <a:p>
            <a:r>
              <a:rPr lang="it-IT" sz="1800" b="0" dirty="0"/>
              <a:t>Potenziali inversi più estremi (</a:t>
            </a:r>
            <a:r>
              <a:rPr lang="it-IT" sz="1800" b="0" dirty="0" err="1"/>
              <a:t>ENa</a:t>
            </a:r>
            <a:r>
              <a:rPr lang="it-IT" sz="1800" b="0" dirty="0"/>
              <a:t>, </a:t>
            </a:r>
            <a:r>
              <a:rPr lang="it-IT" sz="1800" b="0" dirty="0" err="1"/>
              <a:t>Ek</a:t>
            </a:r>
            <a:r>
              <a:rPr lang="it-IT" sz="1800" b="0" dirty="0"/>
              <a:t>, El) accrescono il bacino di attrazione dell’equilibrio unico 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4242340E-CBD7-DE91-BE54-BBD1660E8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80" y="3963329"/>
            <a:ext cx="5758747" cy="2616900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C0B9664F-8668-D092-1F04-0125071F6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3963329"/>
            <a:ext cx="5973621" cy="261690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458EF44D-4650-A58A-5C9F-5F7656C051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80" y="1301021"/>
            <a:ext cx="5758746" cy="2620465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3995E9E5-0FF4-618D-56C7-2AE2A419D8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1301021"/>
            <a:ext cx="5973620" cy="2695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712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AB3654-768C-9383-34F1-A082EB3E4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34498"/>
            <a:ext cx="4222069" cy="516618"/>
          </a:xfrm>
        </p:spPr>
        <p:txBody>
          <a:bodyPr>
            <a:normAutofit fontScale="90000"/>
          </a:bodyPr>
          <a:lstStyle/>
          <a:p>
            <a:r>
              <a:rPr lang="it-IT" sz="4000"/>
              <a:t>Parametri e equilibri</a:t>
            </a:r>
            <a:endParaRPr lang="it-IT" sz="4000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8955E44-79F1-0FA4-E3C7-02D07EAB3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751116"/>
            <a:ext cx="9404123" cy="333375"/>
          </a:xfrm>
        </p:spPr>
        <p:txBody>
          <a:bodyPr>
            <a:normAutofit lnSpcReduction="10000"/>
          </a:bodyPr>
          <a:lstStyle/>
          <a:p>
            <a:r>
              <a:rPr lang="it-IT" sz="1800" b="0" dirty="0"/>
              <a:t>Valori maggiori delle conduttanze (</a:t>
            </a:r>
            <a:r>
              <a:rPr lang="it-IT" sz="1800" b="0" dirty="0" err="1"/>
              <a:t>GNa</a:t>
            </a:r>
            <a:r>
              <a:rPr lang="it-IT" sz="1800" b="0" dirty="0"/>
              <a:t>, </a:t>
            </a:r>
            <a:r>
              <a:rPr lang="it-IT" sz="1800" b="0" dirty="0" err="1"/>
              <a:t>Gk</a:t>
            </a:r>
            <a:r>
              <a:rPr lang="it-IT" sz="1800" b="0" dirty="0"/>
              <a:t>, Gl)  favoriscono l’equilibrio unico 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9469479C-BB2C-2B94-DC37-2EC411BC2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85" y="3926843"/>
            <a:ext cx="5906444" cy="2659109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B4B09016-B71C-8811-337C-5302A4A60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2187" y="3958630"/>
            <a:ext cx="5697648" cy="257844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A37A48EE-133D-248F-539E-8141613434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365" y="1165574"/>
            <a:ext cx="5870883" cy="2680186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BDDCA28E-4363-2C3A-6D75-AFABA24174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2187" y="1181467"/>
            <a:ext cx="5836147" cy="2680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160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8E7E44-63E6-41F4-1227-26639DCFE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616" y="310697"/>
            <a:ext cx="1315583" cy="592818"/>
          </a:xfrm>
        </p:spPr>
        <p:txBody>
          <a:bodyPr>
            <a:normAutofit fontScale="90000"/>
          </a:bodyPr>
          <a:lstStyle/>
          <a:p>
            <a:r>
              <a:rPr lang="it-IT" sz="4000" dirty="0"/>
              <a:t>Fonti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FB225B1-4F1F-9099-5982-983F9674C4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5874" y="1252537"/>
            <a:ext cx="11352212" cy="4352925"/>
          </a:xfrm>
        </p:spPr>
        <p:txBody>
          <a:bodyPr>
            <a:normAutofit/>
          </a:bodyPr>
          <a:lstStyle/>
          <a:p>
            <a:r>
              <a:rPr lang="it-IT" sz="2400" dirty="0" err="1"/>
              <a:t>MultistabilityBook</a:t>
            </a:r>
            <a:endParaRPr lang="it-IT" sz="2400" dirty="0"/>
          </a:p>
          <a:p>
            <a:r>
              <a:rPr lang="it-IT" sz="2400" dirty="0"/>
              <a:t>Artem </a:t>
            </a:r>
            <a:r>
              <a:rPr lang="it-IT" sz="2400" dirty="0" err="1"/>
              <a:t>Kirsanov</a:t>
            </a:r>
            <a:r>
              <a:rPr lang="it-IT" sz="2400" dirty="0"/>
              <a:t>: The Core Equation of </a:t>
            </a:r>
            <a:r>
              <a:rPr lang="it-IT" sz="2400" dirty="0" err="1"/>
              <a:t>Neuroscience</a:t>
            </a:r>
            <a:r>
              <a:rPr lang="it-IT" sz="2400" dirty="0"/>
              <a:t>. </a:t>
            </a:r>
            <a:r>
              <a:rPr lang="it-IT" sz="2400" dirty="0">
                <a:hlinkClick r:id="rId2"/>
              </a:rPr>
              <a:t>https://youtu.be/zOmhHE2xctw?si=XygszLIfMbItmDXf</a:t>
            </a:r>
            <a:endParaRPr lang="it-IT" sz="2400" dirty="0"/>
          </a:p>
          <a:p>
            <a:r>
              <a:rPr lang="it-IT" sz="2400" dirty="0"/>
              <a:t>Artem </a:t>
            </a:r>
            <a:r>
              <a:rPr lang="it-IT" sz="2400" dirty="0" err="1"/>
              <a:t>Kirsanov</a:t>
            </a:r>
            <a:r>
              <a:rPr lang="it-IT" sz="2400" dirty="0"/>
              <a:t>: </a:t>
            </a:r>
            <a:r>
              <a:rPr lang="it-IT" sz="2400" dirty="0" err="1"/>
              <a:t>Elegant</a:t>
            </a:r>
            <a:r>
              <a:rPr lang="it-IT" sz="2400" dirty="0"/>
              <a:t> </a:t>
            </a:r>
            <a:r>
              <a:rPr lang="it-IT" sz="2400" dirty="0" err="1"/>
              <a:t>Geometry</a:t>
            </a:r>
            <a:r>
              <a:rPr lang="it-IT" sz="2400" dirty="0"/>
              <a:t> of </a:t>
            </a:r>
            <a:r>
              <a:rPr lang="it-IT" sz="2400" dirty="0" err="1"/>
              <a:t>Neural</a:t>
            </a:r>
            <a:r>
              <a:rPr lang="it-IT" sz="2400" dirty="0"/>
              <a:t> </a:t>
            </a:r>
            <a:r>
              <a:rPr lang="it-IT" sz="2400" dirty="0" err="1"/>
              <a:t>Computation</a:t>
            </a:r>
            <a:r>
              <a:rPr lang="it-IT" sz="2400" dirty="0"/>
              <a:t>. https://youtu.be/gLtGVEhMFN4?si=w3BF-1s3i4Ln4rwg</a:t>
            </a:r>
          </a:p>
          <a:p>
            <a:r>
              <a:rPr lang="it-IT" sz="2400" dirty="0" err="1"/>
              <a:t>Wikipedia.</a:t>
            </a:r>
            <a:r>
              <a:rPr lang="it-IT" sz="2400" dirty="0" err="1">
                <a:hlinkClick r:id="rId3"/>
              </a:rPr>
              <a:t>https</a:t>
            </a:r>
            <a:r>
              <a:rPr lang="it-IT" sz="2400" dirty="0">
                <a:hlinkClick r:id="rId3"/>
              </a:rPr>
              <a:t>://it.wikipedia.org/wiki/Modello_di_Hodgkin-Huxley</a:t>
            </a:r>
            <a:endParaRPr lang="it-IT" sz="2400" dirty="0"/>
          </a:p>
          <a:p>
            <a:r>
              <a:rPr lang="it-IT" sz="2400" dirty="0"/>
              <a:t>Potenziale d’azione neuronale, scheletrico e cardiaco: riassunto. </a:t>
            </a:r>
            <a:r>
              <a:rPr lang="it-IT" sz="2400" dirty="0">
                <a:hlinkClick r:id="rId4"/>
              </a:rPr>
              <a:t>https://www.microbiologiaitalia.it/didattica/potenziale-dazione/</a:t>
            </a:r>
            <a:endParaRPr lang="it-IT" sz="2400" dirty="0"/>
          </a:p>
          <a:p>
            <a:r>
              <a:rPr lang="it-IT" sz="2400" dirty="0" err="1"/>
              <a:t>Guyton</a:t>
            </a:r>
            <a:r>
              <a:rPr lang="it-IT" sz="2400" dirty="0"/>
              <a:t> e </a:t>
            </a:r>
            <a:r>
              <a:rPr lang="it-IT" sz="2400" u="sng" dirty="0"/>
              <a:t>Hall</a:t>
            </a:r>
            <a:r>
              <a:rPr lang="it-IT" sz="2400" dirty="0"/>
              <a:t>: fisiologia medica</a:t>
            </a:r>
          </a:p>
          <a:p>
            <a:pPr marL="0" indent="0">
              <a:buNone/>
            </a:pP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6408782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346</Words>
  <Application>Microsoft Office PowerPoint</Application>
  <PresentationFormat>Widescreen</PresentationFormat>
  <Paragraphs>65</Paragraphs>
  <Slides>15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Tema di Office</vt:lpstr>
      <vt:lpstr> POTENZIALE DI MEMBRANA NEL NEURONE</vt:lpstr>
      <vt:lpstr>Il Modello: Variabili</vt:lpstr>
      <vt:lpstr>Il Modello: Parametri</vt:lpstr>
      <vt:lpstr>Il Modello: Sistema</vt:lpstr>
      <vt:lpstr>Il Modello: Funzioni Ausiliarie</vt:lpstr>
      <vt:lpstr>Presentazione standard di PowerPoint</vt:lpstr>
      <vt:lpstr>Comportamenti</vt:lpstr>
      <vt:lpstr>Comportamenti</vt:lpstr>
      <vt:lpstr>Equilibri</vt:lpstr>
      <vt:lpstr>Equilibri e corrente (1)</vt:lpstr>
      <vt:lpstr>Equilibri e corrente (2)</vt:lpstr>
      <vt:lpstr>MULTISTABILITA’</vt:lpstr>
      <vt:lpstr>Parametri e equilibri</vt:lpstr>
      <vt:lpstr>Parametri e equilibri</vt:lpstr>
      <vt:lpstr>Fonti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MIHELJ PIETRO [SM3201407]</dc:creator>
  <cp:lastModifiedBy>MIHELJ PIETRO [SM3201407]</cp:lastModifiedBy>
  <cp:revision>9</cp:revision>
  <dcterms:created xsi:type="dcterms:W3CDTF">2025-01-27T08:01:27Z</dcterms:created>
  <dcterms:modified xsi:type="dcterms:W3CDTF">2025-02-24T12:38:30Z</dcterms:modified>
</cp:coreProperties>
</file>